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Play"/>
      <p:regular r:id="rId29"/>
      <p:bold r:id="rId30"/>
    </p:embeddedFont>
    <p:embeddedFont>
      <p:font typeface="Corbel"/>
      <p:regular r:id="rId31"/>
      <p:bold r:id="rId32"/>
      <p:italic r:id="rId33"/>
      <p:boldItalic r:id="rId34"/>
    </p:embeddedFont>
    <p:embeddedFont>
      <p:font typeface="Libre Baskerville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iIjoz2wA0SYjol1eMAsDy43ro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E70A7C-254A-4063-BA5A-14676EA5DEF4}">
  <a:tblStyle styleId="{11E70A7C-254A-4063-BA5A-14676EA5DEF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rbel-regular.fntdata"/><Relationship Id="rId30" Type="http://schemas.openxmlformats.org/officeDocument/2006/relationships/font" Target="fonts/Play-bold.fntdata"/><Relationship Id="rId11" Type="http://schemas.openxmlformats.org/officeDocument/2006/relationships/slide" Target="slides/slide6.xml"/><Relationship Id="rId33" Type="http://schemas.openxmlformats.org/officeDocument/2006/relationships/font" Target="fonts/Corbel-italic.fntdata"/><Relationship Id="rId10" Type="http://schemas.openxmlformats.org/officeDocument/2006/relationships/slide" Target="slides/slide5.xml"/><Relationship Id="rId32" Type="http://schemas.openxmlformats.org/officeDocument/2006/relationships/font" Target="fonts/Corbel-bold.fntdata"/><Relationship Id="rId13" Type="http://schemas.openxmlformats.org/officeDocument/2006/relationships/slide" Target="slides/slide8.xml"/><Relationship Id="rId35" Type="http://schemas.openxmlformats.org/officeDocument/2006/relationships/font" Target="fonts/LibreBaskerville-regular.fntdata"/><Relationship Id="rId12" Type="http://schemas.openxmlformats.org/officeDocument/2006/relationships/slide" Target="slides/slide7.xml"/><Relationship Id="rId34" Type="http://schemas.openxmlformats.org/officeDocument/2006/relationships/font" Target="fonts/Corbel-boldItalic.fntdata"/><Relationship Id="rId15" Type="http://schemas.openxmlformats.org/officeDocument/2006/relationships/slide" Target="slides/slide10.xml"/><Relationship Id="rId37" Type="http://schemas.openxmlformats.org/officeDocument/2006/relationships/font" Target="fonts/LibreBaskerville-italic.fntdata"/><Relationship Id="rId14" Type="http://schemas.openxmlformats.org/officeDocument/2006/relationships/slide" Target="slides/slide9.xml"/><Relationship Id="rId36" Type="http://schemas.openxmlformats.org/officeDocument/2006/relationships/font" Target="fonts/LibreBaskerville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LibreBaskerville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75978207c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75978207c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75978207c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75978207c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75978207c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75978207c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75978207c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75978207c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75978207c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5978207c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5978207c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75978207c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75978207c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75978207c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75978207c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75978207c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75978207c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75978207c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75978207c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75978207c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75978207c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75978207c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75978207c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75978207c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75978207c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75978207c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75978207c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75978207c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75978207c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75978207c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75978207c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75978207c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75978207c_0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75978207c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75978207c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75978207c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75978207c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75978207c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75978207c_0_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75978207c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75978207c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75978207c_0_1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75978207c_0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f75978207c_0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75978207c_0_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75978207c_0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75978207c_0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75978207c_0_2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75978207c_0_2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75978207c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f75978207c_0_2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75978207c_0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75978207c_0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f75978207c_0_2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75978207c_0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75978207c_0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75978207c_0_2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75978207c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75978207c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f75978207c_0_2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" type="body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op Private University in India | MBA, BBA, B.Tech ..." id="29" name="Google Shape;2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3" name="Google Shape;33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op Private University in India | MBA, BBA, B.Tech ..." id="36" name="Google Shape;3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/>
          <p:nvPr>
            <p:ph type="title"/>
          </p:nvPr>
        </p:nvSpPr>
        <p:spPr>
          <a:xfrm>
            <a:off x="839788" y="7478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op Private University in India | MBA, BBA, B.Tech ..." id="46" name="Google Shape;4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8"/>
          <p:cNvSpPr txBox="1"/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op Private University in India | MBA, BBA, B.Tech ..." id="52" name="Google Shape;5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op Private University in India | MBA, BBA, B.Tech ..." id="57" name="Google Shape;5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op Private University in India | MBA, BBA, B.Tech ..." id="65" name="Google Shape;65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1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op Private University in India | MBA, BBA, B.Tech ..." id="73" name="Google Shape;73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4264182" y="-1130089"/>
            <a:ext cx="4058682" cy="10914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op Private University in India | MBA, BBA, B.Tech ..." id="80" name="Google Shape;80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3"/>
          <p:cNvSpPr txBox="1"/>
          <p:nvPr>
            <p:ph type="title"/>
          </p:nvPr>
        </p:nvSpPr>
        <p:spPr>
          <a:xfrm rot="5400000">
            <a:off x="7446169" y="2269331"/>
            <a:ext cx="5186363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" type="body"/>
          </p:nvPr>
        </p:nvSpPr>
        <p:spPr>
          <a:xfrm rot="5400000">
            <a:off x="2112169" y="-283368"/>
            <a:ext cx="518636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op Private University in India | MBA, BBA, B.Tech ..." id="87" name="Google Shape;8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op Private University in India | MBA, BBA, B.Tech ..." id="15" name="Google Shape;15;p3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1236794" y="2297668"/>
            <a:ext cx="9718411" cy="2721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-664075" y="280100"/>
            <a:ext cx="13545600" cy="16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School of Computer Science and Engineering </a:t>
            </a:r>
            <a:b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700">
                <a:latin typeface="Times New Roman"/>
                <a:ea typeface="Times New Roman"/>
                <a:cs typeface="Times New Roman"/>
                <a:sym typeface="Times New Roman"/>
              </a:rPr>
              <a:t>B.Tech (CSE) 5th Semester(3rd Year)</a:t>
            </a:r>
            <a:endParaRPr sz="2700"/>
          </a:p>
        </p:txBody>
      </p:sp>
      <p:sp>
        <p:nvSpPr>
          <p:cNvPr id="93" name="Google Shape;93;p1"/>
          <p:cNvSpPr txBox="1"/>
          <p:nvPr/>
        </p:nvSpPr>
        <p:spPr>
          <a:xfrm>
            <a:off x="75" y="2099275"/>
            <a:ext cx="12192000" cy="27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9E0F00"/>
                </a:solidFill>
              </a:rPr>
              <a:t>INTERNSHIP TITLE :</a:t>
            </a:r>
            <a:r>
              <a:rPr b="1" lang="en-US" sz="2000">
                <a:solidFill>
                  <a:srgbClr val="FF0000"/>
                </a:solidFill>
              </a:rPr>
              <a:t>  Cisco Virtual Internship Program 2026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9E0F00"/>
                </a:solidFill>
              </a:rPr>
              <a:t>INTERNSHIP ORGANIZATION</a:t>
            </a:r>
            <a:r>
              <a:rPr b="1" lang="en-US" sz="2000">
                <a:solidFill>
                  <a:schemeClr val="dk1"/>
                </a:solidFill>
              </a:rPr>
              <a:t> : 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rgbClr val="FF0000"/>
                </a:solidFill>
              </a:rPr>
              <a:t>CISCO                                                     </a:t>
            </a:r>
            <a:r>
              <a:rPr b="1" lang="en-US" sz="2000">
                <a:solidFill>
                  <a:srgbClr val="9E0F00"/>
                </a:solidFill>
              </a:rPr>
              <a:t>PROGRAM PARTNER</a:t>
            </a:r>
            <a:r>
              <a:rPr b="1" lang="en-US" sz="2000">
                <a:solidFill>
                  <a:schemeClr val="dk1"/>
                </a:solidFill>
              </a:rPr>
              <a:t> : </a:t>
            </a:r>
            <a:r>
              <a:rPr b="1" lang="en-US" sz="2000">
                <a:solidFill>
                  <a:srgbClr val="FF0000"/>
                </a:solidFill>
              </a:rPr>
              <a:t>AICTE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9E0F00"/>
                </a:solidFill>
              </a:rPr>
              <a:t>COURSES COMPLETED:</a:t>
            </a:r>
            <a:endParaRPr b="1" sz="2000">
              <a:solidFill>
                <a:srgbClr val="9E0F00"/>
              </a:solidFill>
            </a:endParaRPr>
          </a:p>
          <a:p>
            <a:pPr indent="-3556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Introduction to Modern AI</a:t>
            </a:r>
            <a:endParaRPr b="1" sz="2000">
              <a:solidFill>
                <a:srgbClr val="FF0000"/>
              </a:solidFill>
            </a:endParaRPr>
          </a:p>
          <a:p>
            <a:pPr indent="-3556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Apply AI: Analyze Customer Reviews</a:t>
            </a:r>
            <a:endParaRPr b="1" sz="2000">
              <a:solidFill>
                <a:srgbClr val="FF0000"/>
              </a:solidFill>
            </a:endParaRPr>
          </a:p>
          <a:p>
            <a:pPr indent="-3556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Data Analytics Essentials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FF0000"/>
                </a:solidFill>
              </a:rPr>
              <a:t> </a:t>
            </a:r>
            <a:endParaRPr b="1" sz="20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000">
              <a:solidFill>
                <a:srgbClr val="9E0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977100" y="438900"/>
            <a:ext cx="61218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PRESENTATION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471075" y="4871350"/>
            <a:ext cx="5721000" cy="19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980000"/>
                </a:solidFill>
              </a:rPr>
              <a:t>STUDENT DETAILS : </a:t>
            </a:r>
            <a:endParaRPr b="1" sz="2000">
              <a:solidFill>
                <a:srgbClr val="98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98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NAME - AYAN MANDAL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ROLL NO - 2410030019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CLASS - 3CSE1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BRANCH - B.TECH CSE AIML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2699658" y="707572"/>
            <a:ext cx="7032172" cy="923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778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400"/>
              <a:buChar char="•"/>
            </a:pPr>
            <a:r>
              <a:rPr b="1" lang="en-US" sz="2400">
                <a:solidFill>
                  <a:srgbClr val="585858"/>
                </a:solidFill>
                <a:latin typeface="Corbel"/>
                <a:ea typeface="Corbel"/>
                <a:cs typeface="Corbel"/>
                <a:sym typeface="Corbel"/>
              </a:rPr>
              <a:t>Outlook of Presentation</a:t>
            </a:r>
            <a:endParaRPr b="1" sz="2400"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6425" y="1488850"/>
            <a:ext cx="10810800" cy="53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Title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About Cisco Networking Academy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About the Internship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Internship Learning Journey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Introduction to Modern AI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Modern AI: Techniques &amp; Applications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Apply AI: Analyze Customer Reviews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Customer Review Analysis Workflow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Techniques Used in Customer Review Analysis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Data Analytics Essentials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Tools &amp; Technologies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Data Analytics Workflow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Integration of All Three Courses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Practical Case Study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Skills Learned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Challenges &amp; Solutions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Key Takeaways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Future Scope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Conclusion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All 3 Courses Certificate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US" sz="1700"/>
              <a:t>Thank You</a:t>
            </a:r>
            <a:endParaRPr sz="1700"/>
          </a:p>
          <a:p>
            <a:pPr indent="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75978207c_0_5"/>
          <p:cNvSpPr txBox="1"/>
          <p:nvPr>
            <p:ph type="title"/>
          </p:nvPr>
        </p:nvSpPr>
        <p:spPr>
          <a:xfrm>
            <a:off x="838200" y="932650"/>
            <a:ext cx="11353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b="1" lang="en-US" sz="3000"/>
              <a:t>ABOUT CISCO NETWORKING ACADEMY</a:t>
            </a:r>
            <a:r>
              <a:rPr lang="en-US"/>
              <a:t> </a:t>
            </a:r>
            <a:endParaRPr/>
          </a:p>
        </p:txBody>
      </p:sp>
      <p:sp>
        <p:nvSpPr>
          <p:cNvPr id="109" name="Google Shape;109;g3f75978207c_0_5"/>
          <p:cNvSpPr txBox="1"/>
          <p:nvPr>
            <p:ph idx="1" type="body"/>
          </p:nvPr>
        </p:nvSpPr>
        <p:spPr>
          <a:xfrm>
            <a:off x="838200" y="2128150"/>
            <a:ext cx="10977300" cy="472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Cisco Networking Academy is a technology education initiative that provides industry-oriented learning and technical training.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It offers courses in areas such as Artificial Intelligence, Data Analytics, Networking, Cybersecurity, Programming, and emerging technologies.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platform combines theoretical concepts with practical learning activities, assessments, and hands-on exercises.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Cisco Networking Academy helps students develop technical knowledge and industry-relevant skills.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courses provide learners with opportunities to explore real-world applications of modern technologies.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Key Focus -  Learn → Practice → Apply → Build Skills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10" name="Google Shape;110;g3f75978207c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025" y="1080300"/>
            <a:ext cx="1479550" cy="8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75978207c_0_14"/>
          <p:cNvSpPr txBox="1"/>
          <p:nvPr>
            <p:ph type="title"/>
          </p:nvPr>
        </p:nvSpPr>
        <p:spPr>
          <a:xfrm>
            <a:off x="838200" y="587000"/>
            <a:ext cx="10914300" cy="1191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My Cisco Learning Journey </a:t>
            </a:r>
            <a:endParaRPr sz="3200"/>
          </a:p>
        </p:txBody>
      </p:sp>
      <p:sp>
        <p:nvSpPr>
          <p:cNvPr id="117" name="Google Shape;117;g3f75978207c_0_14"/>
          <p:cNvSpPr txBox="1"/>
          <p:nvPr>
            <p:ph idx="1" type="body"/>
          </p:nvPr>
        </p:nvSpPr>
        <p:spPr>
          <a:xfrm>
            <a:off x="50" y="1662200"/>
            <a:ext cx="12192000" cy="519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Three Courses | One Learning Path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00"/>
              <a:t>01 — INTRODUCTION TO MODERN AI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Learn the fundamentals of Artificial Intelligence and modern AI technologies.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/>
              <a:t>02 — APPLY AI: ANALYZE CUSTOMER REVIEWS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Apply AI techniques to analyze real-world customer feedback and generate useful insights.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/>
              <a:t>03 — DATA ANALYTICS ESSENTIALS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Learn how to organize, analyze, visualize, and communicate data-driven insights.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Overall Journey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AI Fundamentals → AI Application → Data Analytics → Business Insights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75978207c_0_22"/>
          <p:cNvSpPr txBox="1"/>
          <p:nvPr>
            <p:ph type="title"/>
          </p:nvPr>
        </p:nvSpPr>
        <p:spPr>
          <a:xfrm>
            <a:off x="838200" y="703223"/>
            <a:ext cx="10914300" cy="1555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Course 1: Introduction to Modern AI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24" name="Google Shape;124;g3f75978207c_0_22"/>
          <p:cNvSpPr txBox="1"/>
          <p:nvPr>
            <p:ph idx="1" type="body"/>
          </p:nvPr>
        </p:nvSpPr>
        <p:spPr>
          <a:xfrm>
            <a:off x="836425" y="1545950"/>
            <a:ext cx="11153400" cy="531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/>
              <a:t>What is Modern AI?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Artificial Intelligence enables computer systems to perform tasks that normally require human intelligence, such as understanding information, recognizing patterns, generating content, and assisting with decision-making.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/>
              <a:t>Major Topics Covered</a:t>
            </a:r>
            <a:endParaRPr b="1" sz="19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Artificial Intelligence Fundamentals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Machine Learning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Generative AI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Computer Vision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Machine Translation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Chatbots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Prompting Techniques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Practical Applications of AI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/>
              <a:t>Key Learning</a:t>
            </a:r>
            <a:endParaRPr b="1" sz="19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AI can be used as a practical tool to solve real-world problems and improve productivity.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75978207c_0_41"/>
          <p:cNvSpPr txBox="1"/>
          <p:nvPr>
            <p:ph type="title"/>
          </p:nvPr>
        </p:nvSpPr>
        <p:spPr>
          <a:xfrm>
            <a:off x="555025" y="304800"/>
            <a:ext cx="11197500" cy="195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Techniques Learned in Modern AI </a:t>
            </a:r>
            <a:endParaRPr b="1" sz="2200"/>
          </a:p>
        </p:txBody>
      </p:sp>
      <p:sp>
        <p:nvSpPr>
          <p:cNvPr id="131" name="Google Shape;131;g3f75978207c_0_41"/>
          <p:cNvSpPr txBox="1"/>
          <p:nvPr>
            <p:ph idx="1" type="body"/>
          </p:nvPr>
        </p:nvSpPr>
        <p:spPr>
          <a:xfrm>
            <a:off x="555025" y="1633125"/>
            <a:ext cx="11637300" cy="522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2" name="Google Shape;132;g3f75978207c_0_41"/>
          <p:cNvSpPr txBox="1"/>
          <p:nvPr/>
        </p:nvSpPr>
        <p:spPr>
          <a:xfrm>
            <a:off x="8339725" y="21064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 sz="1100"/>
          </a:p>
        </p:txBody>
      </p:sp>
      <p:graphicFrame>
        <p:nvGraphicFramePr>
          <p:cNvPr id="133" name="Google Shape;133;g3f75978207c_0_41"/>
          <p:cNvGraphicFramePr/>
          <p:nvPr/>
        </p:nvGraphicFramePr>
        <p:xfrm>
          <a:off x="555025" y="163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{11E70A7C-254A-4063-BA5A-14676EA5DEF4}</a:tableStyleId>
              </a:tblPr>
              <a:tblGrid>
                <a:gridCol w="1935550"/>
                <a:gridCol w="4516250"/>
              </a:tblGrid>
              <a:tr h="518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Technique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Application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8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Machine Learning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Learns patterns from data and supports predictions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76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Generative AI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Generates text, images, and other content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8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Computer Vision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Enables computers to understand images and videos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76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Chatbots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Provides conversational interaction with users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80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Machine Translation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Converts information between different languages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76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Prompting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Provides effective instructions to AI models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4" name="Google Shape;134;g3f75978207c_0_41"/>
          <p:cNvSpPr txBox="1"/>
          <p:nvPr/>
        </p:nvSpPr>
        <p:spPr>
          <a:xfrm>
            <a:off x="7499775" y="1633100"/>
            <a:ext cx="4692600" cy="52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/>
              <a:t>Real-World Applications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Healthcare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Education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Business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Customer Service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Automation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Content Generation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Data Analysis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75978207c_0_63"/>
          <p:cNvSpPr txBox="1"/>
          <p:nvPr>
            <p:ph type="title"/>
          </p:nvPr>
        </p:nvSpPr>
        <p:spPr>
          <a:xfrm>
            <a:off x="230025" y="758225"/>
            <a:ext cx="11522400" cy="1008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Course 2: Apply AI — Analyze Customer Reviews </a:t>
            </a:r>
            <a:endParaRPr b="1" sz="2400"/>
          </a:p>
        </p:txBody>
      </p:sp>
      <p:sp>
        <p:nvSpPr>
          <p:cNvPr id="141" name="Google Shape;141;g3f75978207c_0_63"/>
          <p:cNvSpPr txBox="1"/>
          <p:nvPr>
            <p:ph idx="1" type="body"/>
          </p:nvPr>
        </p:nvSpPr>
        <p:spPr>
          <a:xfrm>
            <a:off x="301000" y="1226775"/>
            <a:ext cx="11891100" cy="574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Problem Statement - </a:t>
            </a:r>
            <a:r>
              <a:rPr lang="en-US" sz="1600"/>
              <a:t>Organizations receive thousands of customer reviews through websites, applications, and social media.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Manually analyzing these reviews is: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Time-consuming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Difficult to scale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Difficult to identify overall trends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Challenging when reviews contain different topics and languages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AI-Based Solution - </a:t>
            </a:r>
            <a:r>
              <a:rPr lang="en-US" sz="1600"/>
              <a:t>AI can help analyze customer reviews and identify: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Topics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Themes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Sentiment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Customer concerns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Positive feedback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Common complaints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Improvement opportunities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/>
              <a:t>Goal - Convert unstructured customer feedback into meaningful business insights.</a:t>
            </a:r>
            <a:endParaRPr b="1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75978207c_0_73"/>
          <p:cNvSpPr txBox="1"/>
          <p:nvPr>
            <p:ph type="title"/>
          </p:nvPr>
        </p:nvSpPr>
        <p:spPr>
          <a:xfrm>
            <a:off x="838200" y="346450"/>
            <a:ext cx="10914300" cy="191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Customer Review Analysis Workflow </a:t>
            </a:r>
            <a:endParaRPr b="1" sz="2500"/>
          </a:p>
        </p:txBody>
      </p:sp>
      <p:sp>
        <p:nvSpPr>
          <p:cNvPr id="148" name="Google Shape;148;g3f75978207c_0_73"/>
          <p:cNvSpPr txBox="1"/>
          <p:nvPr>
            <p:ph idx="1" type="body"/>
          </p:nvPr>
        </p:nvSpPr>
        <p:spPr>
          <a:xfrm>
            <a:off x="836425" y="1666925"/>
            <a:ext cx="10914300" cy="468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CUSTOMER REVIEWS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DATA PREPARATION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TOPIC IDENTIFICATION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THEME GROUPING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SENTIMENT ANALYSIS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HUMAN VERIFICATION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INSIGHTS &amp; RECOMMENDATIONS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75978207c_0_73"/>
          <p:cNvSpPr txBox="1"/>
          <p:nvPr/>
        </p:nvSpPr>
        <p:spPr>
          <a:xfrm>
            <a:off x="5781725" y="1695325"/>
            <a:ext cx="64104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Example Review</a:t>
            </a:r>
            <a:endParaRPr b="1" sz="2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"The food was excellent, but the delivery was very slow."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AI Analysis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Food Quality → Positive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Delivery → Negative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Overall Sentiment → Mixed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Recommendation → Improve delivery speed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75978207c_0_84"/>
          <p:cNvSpPr txBox="1"/>
          <p:nvPr>
            <p:ph type="title"/>
          </p:nvPr>
        </p:nvSpPr>
        <p:spPr>
          <a:xfrm>
            <a:off x="838200" y="932653"/>
            <a:ext cx="10914300" cy="94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Techniques Used for Review Analysis </a:t>
            </a:r>
            <a:endParaRPr b="1" sz="2500"/>
          </a:p>
        </p:txBody>
      </p:sp>
      <p:sp>
        <p:nvSpPr>
          <p:cNvPr id="156" name="Google Shape;156;g3f75978207c_0_84"/>
          <p:cNvSpPr txBox="1"/>
          <p:nvPr>
            <p:ph idx="1" type="body"/>
          </p:nvPr>
        </p:nvSpPr>
        <p:spPr>
          <a:xfrm>
            <a:off x="836425" y="1794726"/>
            <a:ext cx="10914300" cy="456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1. Data Cleaning - </a:t>
            </a:r>
            <a:r>
              <a:rPr lang="en-US" sz="2000"/>
              <a:t>Remove duplicate, irrelevant, or unnecessary information.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2. Topic Identification - </a:t>
            </a:r>
            <a:r>
              <a:rPr lang="en-US" sz="2000"/>
              <a:t>Identify the main subjects discussed in customer reviews.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3. Thematic Analysis - </a:t>
            </a:r>
            <a:r>
              <a:rPr lang="en-US" sz="2000"/>
              <a:t>Group related topics into broader themes.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4. Sentiment Analysis - </a:t>
            </a:r>
            <a:r>
              <a:rPr lang="en-US" sz="2000"/>
              <a:t>Identify whether feedback is positive, negative, or mixed.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5. Translation - </a:t>
            </a:r>
            <a:r>
              <a:rPr lang="en-US" sz="2000"/>
              <a:t>Support analysis of reviews written in different languages.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6. Human-in-the-Loop - </a:t>
            </a:r>
            <a:r>
              <a:rPr lang="en-US" sz="2000"/>
              <a:t>Review and verify AI-generated results to improve reliability.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7. Recommendations - </a:t>
            </a:r>
            <a:r>
              <a:rPr lang="en-US" sz="2000"/>
              <a:t>Convert analytical results into actionable business suggestions.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75978207c_0_93"/>
          <p:cNvSpPr txBox="1"/>
          <p:nvPr>
            <p:ph type="title"/>
          </p:nvPr>
        </p:nvSpPr>
        <p:spPr>
          <a:xfrm>
            <a:off x="838200" y="715625"/>
            <a:ext cx="10914300" cy="1107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Course 3: Data Analytics Essentials </a:t>
            </a:r>
            <a:endParaRPr b="1" sz="2500"/>
          </a:p>
        </p:txBody>
      </p:sp>
      <p:sp>
        <p:nvSpPr>
          <p:cNvPr id="163" name="Google Shape;163;g3f75978207c_0_93"/>
          <p:cNvSpPr txBox="1"/>
          <p:nvPr>
            <p:ph idx="1" type="body"/>
          </p:nvPr>
        </p:nvSpPr>
        <p:spPr>
          <a:xfrm>
            <a:off x="836425" y="1624350"/>
            <a:ext cx="10914300" cy="523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What is Data Analytics?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Data Analytics is the process of collecting, organizing, analyzing, and visualizing data to discover useful information and support better decision-making.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Key Areas</a:t>
            </a:r>
            <a:endParaRPr b="1"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Data Collection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Data Cleaning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Data Organization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Data Analysis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Data Visualization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Dashboards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Data Storytelling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Decision Making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Main Tools - Excel / Spreadsheets | SQL | Tableau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Key Learning -  Data analytics transforms raw data into meaningful information and actionable insights.</a:t>
            </a:r>
            <a:endParaRPr b="1"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75978207c_0_101"/>
          <p:cNvSpPr txBox="1"/>
          <p:nvPr>
            <p:ph type="title"/>
          </p:nvPr>
        </p:nvSpPr>
        <p:spPr>
          <a:xfrm>
            <a:off x="838200" y="932653"/>
            <a:ext cx="10914300" cy="86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Data Analytics Process </a:t>
            </a:r>
            <a:endParaRPr b="1" sz="2600"/>
          </a:p>
        </p:txBody>
      </p:sp>
      <p:sp>
        <p:nvSpPr>
          <p:cNvPr id="170" name="Google Shape;170;g3f75978207c_0_101"/>
          <p:cNvSpPr txBox="1"/>
          <p:nvPr>
            <p:ph idx="1" type="body"/>
          </p:nvPr>
        </p:nvSpPr>
        <p:spPr>
          <a:xfrm>
            <a:off x="838200" y="1993500"/>
            <a:ext cx="10914300" cy="439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DATA COLLECTION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DATA CLEANING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DATA ORGANIZATION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DATA ANALYSIS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DATA VISUALIZATION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INSIGHTS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       ↓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DECISION MAKING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75978207c_0_101"/>
          <p:cNvSpPr txBox="1"/>
          <p:nvPr/>
        </p:nvSpPr>
        <p:spPr>
          <a:xfrm>
            <a:off x="6292900" y="1766325"/>
            <a:ext cx="5459400" cy="46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</a:rPr>
              <a:t>Example</a:t>
            </a:r>
            <a:endParaRPr b="1"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</a:rPr>
              <a:t>Raw Sales Data</a:t>
            </a:r>
            <a:endParaRPr b="1"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</a:rPr>
              <a:t>↓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</a:rPr>
              <a:t>Analyze sales by product, customer, and location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</a:rPr>
              <a:t>↓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</a:rPr>
              <a:t>Create charts and dashboards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</a:rPr>
              <a:t>↓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</a:rPr>
              <a:t>Identify trends and patterns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</a:rPr>
              <a:t>↓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</a:rPr>
              <a:t>Make data-driven business decisions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75978207c_0_111"/>
          <p:cNvSpPr txBox="1"/>
          <p:nvPr>
            <p:ph type="title"/>
          </p:nvPr>
        </p:nvSpPr>
        <p:spPr>
          <a:xfrm>
            <a:off x="866600" y="914375"/>
            <a:ext cx="10914300" cy="1036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TOOLS &amp; THEIR ROLES </a:t>
            </a:r>
            <a:endParaRPr b="1" sz="2100"/>
          </a:p>
        </p:txBody>
      </p:sp>
      <p:sp>
        <p:nvSpPr>
          <p:cNvPr id="178" name="Google Shape;178;g3f75978207c_0_111"/>
          <p:cNvSpPr txBox="1"/>
          <p:nvPr>
            <p:ph idx="1" type="body"/>
          </p:nvPr>
        </p:nvSpPr>
        <p:spPr>
          <a:xfrm>
            <a:off x="864825" y="1936125"/>
            <a:ext cx="10914300" cy="492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graphicFrame>
        <p:nvGraphicFramePr>
          <p:cNvPr id="179" name="Google Shape;179;g3f75978207c_0_111"/>
          <p:cNvGraphicFramePr/>
          <p:nvPr/>
        </p:nvGraphicFramePr>
        <p:xfrm>
          <a:off x="866600" y="195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{11E70A7C-254A-4063-BA5A-14676EA5DEF4}</a:tableStyleId>
              </a:tblPr>
              <a:tblGrid>
                <a:gridCol w="1673700"/>
                <a:gridCol w="4985375"/>
              </a:tblGrid>
              <a:tr h="517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Tool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Role</a:t>
                      </a:r>
                      <a:endParaRPr b="1" sz="1700"/>
                    </a:p>
                  </a:txBody>
                  <a:tcPr marT="91425" marB="91425" marR="91425" marL="91425"/>
                </a:tc>
              </a:tr>
              <a:tr h="96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Excel / Spreadsheets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Organizing, cleaning, calculating, and analyzing data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83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SQL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Retrieving, filtering, and analyzing data from databases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83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Tableau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Creating interactive visualizations and dashboards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83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AI Tools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Assisting with text analysis, classification, and insight generation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83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GitHub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Managing and sharing project files and building a portfolio</a:t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0" name="Google Shape;180;g3f75978207c_0_111"/>
          <p:cNvSpPr txBox="1"/>
          <p:nvPr/>
        </p:nvSpPr>
        <p:spPr>
          <a:xfrm>
            <a:off x="7840550" y="1950875"/>
            <a:ext cx="3938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/>
              <a:t>Tools Used in Data Analytics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/>
              <a:t>Core Skills: 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700"/>
              <a:t>Data Analysis + SQL + Visualization + Data Storytelling</a:t>
            </a:r>
            <a:endParaRPr b="1"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75978207c_0_122"/>
          <p:cNvSpPr txBox="1"/>
          <p:nvPr>
            <p:ph type="title"/>
          </p:nvPr>
        </p:nvSpPr>
        <p:spPr>
          <a:xfrm>
            <a:off x="838200" y="843400"/>
            <a:ext cx="10914300" cy="106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HOW ALL THREE COURSES CONNECT ?</a:t>
            </a:r>
            <a:endParaRPr b="1" sz="2800"/>
          </a:p>
        </p:txBody>
      </p:sp>
      <p:sp>
        <p:nvSpPr>
          <p:cNvPr id="187" name="Google Shape;187;g3f75978207c_0_122"/>
          <p:cNvSpPr txBox="1"/>
          <p:nvPr>
            <p:ph idx="1" type="body"/>
          </p:nvPr>
        </p:nvSpPr>
        <p:spPr>
          <a:xfrm>
            <a:off x="836425" y="1908400"/>
            <a:ext cx="11355600" cy="494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From AI to Data-Driven Insights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INTRODUCTION TO MODERN AI                                                                                                                       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Learn AI Concepts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AI  • ML  • Generative AI  • Computer Vision   • Chatbots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                                                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/>
              <a:t>FINAL OUTCOME -  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BUSINESS INSIGHTS &amp; BETTER DECISION-MAKING</a:t>
            </a:r>
            <a:endParaRPr b="1"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188" name="Google Shape;188;g3f75978207c_0_122"/>
          <p:cNvSpPr/>
          <p:nvPr/>
        </p:nvSpPr>
        <p:spPr>
          <a:xfrm>
            <a:off x="5838525" y="2376875"/>
            <a:ext cx="710100" cy="4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75978207c_0_122"/>
          <p:cNvSpPr txBox="1"/>
          <p:nvPr/>
        </p:nvSpPr>
        <p:spPr>
          <a:xfrm>
            <a:off x="7116425" y="2149700"/>
            <a:ext cx="50757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A</a:t>
            </a:r>
            <a:r>
              <a:rPr b="1" lang="en-US" sz="1700">
                <a:solidFill>
                  <a:schemeClr val="dk1"/>
                </a:solidFill>
              </a:rPr>
              <a:t>PPLY AI: ANALYZE CUSTOMER REVIEWS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Apply AI to Real-World Data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Topics  • Themes  • Sentiment  •Recommendations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90" name="Google Shape;190;g3f75978207c_0_122"/>
          <p:cNvSpPr/>
          <p:nvPr/>
        </p:nvSpPr>
        <p:spPr>
          <a:xfrm>
            <a:off x="9260425" y="3839350"/>
            <a:ext cx="340800" cy="511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75978207c_0_122"/>
          <p:cNvSpPr txBox="1"/>
          <p:nvPr/>
        </p:nvSpPr>
        <p:spPr>
          <a:xfrm>
            <a:off x="7854750" y="4506675"/>
            <a:ext cx="4231200" cy="21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DATA ANALYTICS ESSENTIALS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Analyze &amp; Visualize Data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Excel • SQL • Tableau • Dashboards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92" name="Google Shape;192;g3f75978207c_0_122"/>
          <p:cNvSpPr/>
          <p:nvPr/>
        </p:nvSpPr>
        <p:spPr>
          <a:xfrm>
            <a:off x="6676200" y="4819050"/>
            <a:ext cx="639000" cy="340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75978207c_0_136"/>
          <p:cNvSpPr txBox="1"/>
          <p:nvPr>
            <p:ph type="title"/>
          </p:nvPr>
        </p:nvSpPr>
        <p:spPr>
          <a:xfrm>
            <a:off x="230025" y="516825"/>
            <a:ext cx="11522700" cy="153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MINI CASE STUDY </a:t>
            </a:r>
            <a:endParaRPr b="1" sz="2600"/>
          </a:p>
        </p:txBody>
      </p:sp>
      <p:sp>
        <p:nvSpPr>
          <p:cNvPr id="199" name="Google Shape;199;g3f75978207c_0_136"/>
          <p:cNvSpPr txBox="1"/>
          <p:nvPr>
            <p:ph idx="1" type="body"/>
          </p:nvPr>
        </p:nvSpPr>
        <p:spPr>
          <a:xfrm>
            <a:off x="9375" y="1737925"/>
            <a:ext cx="12192000" cy="516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Step 1 — Collect Reviews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Gather customer feedback from different sources.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200" name="Google Shape;200;g3f75978207c_0_136"/>
          <p:cNvSpPr txBox="1"/>
          <p:nvPr/>
        </p:nvSpPr>
        <p:spPr>
          <a:xfrm>
            <a:off x="1639500" y="4407700"/>
            <a:ext cx="3000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  <p:sp>
        <p:nvSpPr>
          <p:cNvPr id="201" name="Google Shape;201;g3f75978207c_0_136"/>
          <p:cNvSpPr txBox="1"/>
          <p:nvPr/>
        </p:nvSpPr>
        <p:spPr>
          <a:xfrm>
            <a:off x="6562400" y="2504650"/>
            <a:ext cx="56295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2" name="Google Shape;202;g3f75978207c_0_136"/>
          <p:cNvSpPr/>
          <p:nvPr/>
        </p:nvSpPr>
        <p:spPr>
          <a:xfrm>
            <a:off x="4475475" y="1915525"/>
            <a:ext cx="610800" cy="411600"/>
          </a:xfrm>
          <a:prstGeom prst="rightArrow">
            <a:avLst>
              <a:gd fmla="val 53821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f75978207c_0_136"/>
          <p:cNvSpPr txBox="1"/>
          <p:nvPr/>
        </p:nvSpPr>
        <p:spPr>
          <a:xfrm>
            <a:off x="5199575" y="1737925"/>
            <a:ext cx="36774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Step 2 — Apply AI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Classify reviews by topics and sentiment.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04" name="Google Shape;204;g3f75978207c_0_136"/>
          <p:cNvSpPr txBox="1"/>
          <p:nvPr/>
        </p:nvSpPr>
        <p:spPr>
          <a:xfrm>
            <a:off x="9530200" y="1737925"/>
            <a:ext cx="27612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Step 3 - Identify Themes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Food Quality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Customer Service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Delivery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Price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Cleanliness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05" name="Google Shape;205;g3f75978207c_0_136"/>
          <p:cNvSpPr/>
          <p:nvPr/>
        </p:nvSpPr>
        <p:spPr>
          <a:xfrm>
            <a:off x="8877050" y="1972325"/>
            <a:ext cx="553800" cy="41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75978207c_0_136"/>
          <p:cNvSpPr txBox="1"/>
          <p:nvPr/>
        </p:nvSpPr>
        <p:spPr>
          <a:xfrm>
            <a:off x="8692475" y="4336300"/>
            <a:ext cx="3351000" cy="24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07" name="Google Shape;207;g3f75978207c_0_136"/>
          <p:cNvSpPr/>
          <p:nvPr/>
        </p:nvSpPr>
        <p:spPr>
          <a:xfrm>
            <a:off x="10453100" y="4208675"/>
            <a:ext cx="610800" cy="553800"/>
          </a:xfrm>
          <a:prstGeom prst="curvedLeftArrow">
            <a:avLst>
              <a:gd fmla="val 25000" name="adj1"/>
              <a:gd fmla="val 36969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75978207c_0_136"/>
          <p:cNvSpPr txBox="1"/>
          <p:nvPr/>
        </p:nvSpPr>
        <p:spPr>
          <a:xfrm>
            <a:off x="6193500" y="3924525"/>
            <a:ext cx="3862200" cy="29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graphicFrame>
        <p:nvGraphicFramePr>
          <p:cNvPr id="209" name="Google Shape;209;g3f75978207c_0_136"/>
          <p:cNvGraphicFramePr/>
          <p:nvPr/>
        </p:nvGraphicFramePr>
        <p:xfrm>
          <a:off x="6769000" y="398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{11E70A7C-254A-4063-BA5A-14676EA5DEF4}</a:tableStyleId>
              </a:tblPr>
              <a:tblGrid>
                <a:gridCol w="1909725"/>
                <a:gridCol w="987775"/>
              </a:tblGrid>
              <a:tr h="45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Category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Result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8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Food Quality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Customer Service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Mixed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Delivery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Cleanliness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0" name="Google Shape;210;g3f75978207c_0_136"/>
          <p:cNvSpPr txBox="1"/>
          <p:nvPr/>
        </p:nvSpPr>
        <p:spPr>
          <a:xfrm>
            <a:off x="6846650" y="3654775"/>
            <a:ext cx="37911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Step 4 — Analyze Results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211" name="Google Shape;211;g3f75978207c_0_136"/>
          <p:cNvSpPr txBox="1"/>
          <p:nvPr/>
        </p:nvSpPr>
        <p:spPr>
          <a:xfrm>
            <a:off x="59625" y="3782550"/>
            <a:ext cx="5139900" cy="30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Step 5 — Business Decision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Improve delivery operations because delivery receives the highest negative feedback.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12" name="Google Shape;212;g3f75978207c_0_136"/>
          <p:cNvSpPr/>
          <p:nvPr/>
        </p:nvSpPr>
        <p:spPr>
          <a:xfrm>
            <a:off x="5540300" y="4691250"/>
            <a:ext cx="553800" cy="340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75978207c_0_177"/>
          <p:cNvSpPr txBox="1"/>
          <p:nvPr>
            <p:ph type="title"/>
          </p:nvPr>
        </p:nvSpPr>
        <p:spPr>
          <a:xfrm>
            <a:off x="836425" y="971975"/>
            <a:ext cx="10914300" cy="80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SKILLS &amp; LEARNING OUTCOMES </a:t>
            </a:r>
            <a:endParaRPr b="1" sz="2600"/>
          </a:p>
        </p:txBody>
      </p:sp>
      <p:sp>
        <p:nvSpPr>
          <p:cNvPr id="219" name="Google Shape;219;g3f75978207c_0_177"/>
          <p:cNvSpPr txBox="1"/>
          <p:nvPr>
            <p:ph idx="1" type="body"/>
          </p:nvPr>
        </p:nvSpPr>
        <p:spPr>
          <a:xfrm>
            <a:off x="836425" y="1780475"/>
            <a:ext cx="4817400" cy="489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🤖 AI Skills</a:t>
            </a:r>
            <a:endParaRPr b="1" sz="1700"/>
          </a:p>
          <a:p>
            <a:pPr indent="-3365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Artificial Intelligence Fundamentals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Machine Learning Concepts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Generative AI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Prompting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Chatbots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Computer Vision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💬 AI Application Skills</a:t>
            </a:r>
            <a:endParaRPr b="1" sz="1700"/>
          </a:p>
          <a:p>
            <a:pPr indent="-3365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Customer Review Analysis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Thematic Analysis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Sentiment Analysis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AI-Assisted Classification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Human Verification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0" name="Google Shape;220;g3f75978207c_0_177"/>
          <p:cNvSpPr txBox="1"/>
          <p:nvPr/>
        </p:nvSpPr>
        <p:spPr>
          <a:xfrm>
            <a:off x="6860850" y="1808925"/>
            <a:ext cx="5168100" cy="48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📊 Data Analytics Skills</a:t>
            </a:r>
            <a:endParaRPr b="1"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Excel / Spreadsheets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SQL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Tableau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Data Visualization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Dashboards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Data Storytelling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💡 Professional Skills</a:t>
            </a:r>
            <a:endParaRPr b="1"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Analytical Thinking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Problem Solving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Communication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Critical Thinking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Data-Driven Decision Making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75978207c_0_187"/>
          <p:cNvSpPr txBox="1"/>
          <p:nvPr>
            <p:ph type="title"/>
          </p:nvPr>
        </p:nvSpPr>
        <p:spPr>
          <a:xfrm>
            <a:off x="838200" y="932651"/>
            <a:ext cx="10914300" cy="113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CHALLENGES &amp; SOLUTIONS </a:t>
            </a:r>
            <a:endParaRPr b="1" sz="2600"/>
          </a:p>
        </p:txBody>
      </p:sp>
      <p:sp>
        <p:nvSpPr>
          <p:cNvPr id="227" name="Google Shape;227;g3f75978207c_0_187"/>
          <p:cNvSpPr txBox="1"/>
          <p:nvPr>
            <p:ph idx="1" type="body"/>
          </p:nvPr>
        </p:nvSpPr>
        <p:spPr>
          <a:xfrm>
            <a:off x="836425" y="2064550"/>
            <a:ext cx="10914300" cy="429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pic>
        <p:nvPicPr>
          <p:cNvPr id="228" name="Google Shape;228;g3f75978207c_0_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884250"/>
            <a:ext cx="10914300" cy="493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75978207c_0_214"/>
          <p:cNvSpPr txBox="1"/>
          <p:nvPr>
            <p:ph type="title"/>
          </p:nvPr>
        </p:nvSpPr>
        <p:spPr>
          <a:xfrm>
            <a:off x="838200" y="932650"/>
            <a:ext cx="10914300" cy="989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KEY TAKEAWAYS</a:t>
            </a:r>
            <a:r>
              <a:rPr lang="en-US"/>
              <a:t> </a:t>
            </a:r>
            <a:endParaRPr/>
          </a:p>
        </p:txBody>
      </p:sp>
      <p:sp>
        <p:nvSpPr>
          <p:cNvPr id="235" name="Google Shape;235;g3f75978207c_0_214"/>
          <p:cNvSpPr txBox="1"/>
          <p:nvPr>
            <p:ph idx="1" type="body"/>
          </p:nvPr>
        </p:nvSpPr>
        <p:spPr>
          <a:xfrm>
            <a:off x="836425" y="1993500"/>
            <a:ext cx="10914300" cy="436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/>
              <a:t>What I Learned</a:t>
            </a:r>
            <a:endParaRPr b="1" sz="1700"/>
          </a:p>
          <a:p>
            <a:pPr indent="-3365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Developed a strong foundation in modern Artificial Intelligence.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Understood Machine Learning and Generative AI concepts.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Learned how prompting can improve interaction with AI tools.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Learned how AI can analyze customer reviews and identify useful patterns.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Understood thematic and sentiment analysis.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Learned the fundamentals of data analytics.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Gained knowledge of Excel, SQL, and Tableau.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Understood the importance of data visualization and storytelling.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Learned how data can support business decisions.</a:t>
            </a:r>
            <a:endParaRPr sz="1700"/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Understood the connection between </a:t>
            </a:r>
            <a:r>
              <a:rPr b="1" lang="en-US" sz="1700"/>
              <a:t>AI, Data Analytics, and real-world applications</a:t>
            </a:r>
            <a:r>
              <a:rPr lang="en-US" sz="1700"/>
              <a:t>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75978207c_0_222"/>
          <p:cNvSpPr txBox="1"/>
          <p:nvPr>
            <p:ph type="title"/>
          </p:nvPr>
        </p:nvSpPr>
        <p:spPr>
          <a:xfrm>
            <a:off x="838200" y="932652"/>
            <a:ext cx="10914300" cy="989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FUTURE SCOPE </a:t>
            </a:r>
            <a:endParaRPr b="1" sz="2500"/>
          </a:p>
        </p:txBody>
      </p:sp>
      <p:sp>
        <p:nvSpPr>
          <p:cNvPr id="242" name="Google Shape;242;g3f75978207c_0_222"/>
          <p:cNvSpPr txBox="1"/>
          <p:nvPr>
            <p:ph idx="1" type="body"/>
          </p:nvPr>
        </p:nvSpPr>
        <p:spPr>
          <a:xfrm>
            <a:off x="836425" y="1794725"/>
            <a:ext cx="10914300" cy="506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Future Applications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/>
              <a:t>The knowledge gained from these courses can be extended to: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AI</a:t>
            </a:r>
            <a:endParaRPr b="1" sz="18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Generative AI Applications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AI Chatbots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Computer Vision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Recommendation Systems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/>
              <a:t>Data Analytics</a:t>
            </a:r>
            <a:endParaRPr b="1" sz="18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Predictive Analytics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Business Intelligence , Customer Analytics , Automated Dashboards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f75978207c_0_222"/>
          <p:cNvSpPr txBox="1"/>
          <p:nvPr/>
        </p:nvSpPr>
        <p:spPr>
          <a:xfrm>
            <a:off x="7215800" y="2817025"/>
            <a:ext cx="44727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Combined AI + Analytics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AI-Powered Business Intelligence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Customer Sentiment Monitoring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Automated Review Analysis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Intelligent Recommendation Systems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Predictive Customer Behavior Analysis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44" name="Google Shape;244;g3f75978207c_0_222"/>
          <p:cNvSpPr txBox="1"/>
          <p:nvPr/>
        </p:nvSpPr>
        <p:spPr>
          <a:xfrm>
            <a:off x="838200" y="5883975"/>
            <a:ext cx="113538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Career Areas - Data Analyst | AI/ML Engineer | Business Intelligence Analyst | Data Scientist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75978207c_0_234"/>
          <p:cNvSpPr txBox="1"/>
          <p:nvPr>
            <p:ph type="title"/>
          </p:nvPr>
        </p:nvSpPr>
        <p:spPr>
          <a:xfrm>
            <a:off x="838200" y="932653"/>
            <a:ext cx="10914300" cy="91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CONCLUSION </a:t>
            </a:r>
            <a:endParaRPr b="1" sz="2600"/>
          </a:p>
        </p:txBody>
      </p:sp>
      <p:sp>
        <p:nvSpPr>
          <p:cNvPr id="251" name="Google Shape;251;g3f75978207c_0_234"/>
          <p:cNvSpPr txBox="1"/>
          <p:nvPr>
            <p:ph idx="1" type="body"/>
          </p:nvPr>
        </p:nvSpPr>
        <p:spPr>
          <a:xfrm>
            <a:off x="836425" y="1851551"/>
            <a:ext cx="10914300" cy="450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The three Cisco courses provided a progressive learning experience in </a:t>
            </a:r>
            <a:r>
              <a:rPr b="1" lang="en-US" sz="1900"/>
              <a:t>AI and Data Analytics</a:t>
            </a:r>
            <a:r>
              <a:rPr lang="en-US" sz="1900"/>
              <a:t>.</a:t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/>
              <a:t>Introduction to Modern AI</a:t>
            </a:r>
            <a:r>
              <a:rPr lang="en-US" sz="1900"/>
              <a:t> established the fundamentals of modern AI technologies.</a:t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/>
              <a:t>Apply AI: Analyze Customer Reviews</a:t>
            </a:r>
            <a:r>
              <a:rPr lang="en-US" sz="1900"/>
              <a:t> demonstrated how AI can be applied to real-world text data.</a:t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/>
              <a:t>Data Analytics Essentials</a:t>
            </a:r>
            <a:r>
              <a:rPr lang="en-US" sz="1900"/>
              <a:t> provided knowledge of data analysis, SQL, visualization, and dashboards.</a:t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Together, these courses helped develop the ability to move from </a:t>
            </a:r>
            <a:r>
              <a:rPr b="1" lang="en-US" sz="1900"/>
              <a:t>raw data → AI analysis → visualization → actionable insights</a:t>
            </a:r>
            <a:r>
              <a:rPr lang="en-US" sz="1900"/>
              <a:t>.</a:t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The learning experience provides a strong foundation for further studies and projects in </a:t>
            </a:r>
            <a:r>
              <a:rPr b="1" lang="en-US" sz="1900"/>
              <a:t>AI/ML and Data Analytics</a:t>
            </a:r>
            <a:r>
              <a:rPr lang="en-US" sz="1900"/>
              <a:t>.</a:t>
            </a:r>
            <a:endParaRPr sz="19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75978207c_0_242"/>
          <p:cNvSpPr txBox="1"/>
          <p:nvPr>
            <p:ph type="title"/>
          </p:nvPr>
        </p:nvSpPr>
        <p:spPr>
          <a:xfrm>
            <a:off x="836425" y="904254"/>
            <a:ext cx="10914300" cy="74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Course 1 : Introduction to Modern AI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Certificate </a:t>
            </a:r>
            <a:endParaRPr b="1" sz="2300"/>
          </a:p>
        </p:txBody>
      </p:sp>
      <p:sp>
        <p:nvSpPr>
          <p:cNvPr id="258" name="Google Shape;258;g3f75978207c_0_242"/>
          <p:cNvSpPr txBox="1"/>
          <p:nvPr>
            <p:ph idx="1" type="body"/>
          </p:nvPr>
        </p:nvSpPr>
        <p:spPr>
          <a:xfrm>
            <a:off x="836425" y="2297668"/>
            <a:ext cx="10914300" cy="405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g3f75978207c_0_242" title="Introduction_to_Modern_AI_certificate_ayan-mandal-cs28-iilm-edu_8845de6a-668a-4f39-9c83-2b586cdde961 (1)_page-0001.jpg"/>
          <p:cNvPicPr preferRelativeResize="0"/>
          <p:nvPr/>
        </p:nvPicPr>
        <p:blipFill rotWithShape="1">
          <a:blip r:embed="rId3">
            <a:alphaModFix/>
          </a:blip>
          <a:srcRect b="0" l="0" r="0" t="-6621"/>
          <a:stretch/>
        </p:blipFill>
        <p:spPr>
          <a:xfrm>
            <a:off x="838200" y="1240975"/>
            <a:ext cx="10552049" cy="5617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75978207c_0_266"/>
          <p:cNvSpPr txBox="1"/>
          <p:nvPr>
            <p:ph type="title"/>
          </p:nvPr>
        </p:nvSpPr>
        <p:spPr>
          <a:xfrm>
            <a:off x="838200" y="630425"/>
            <a:ext cx="10914300" cy="1348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Course 2 : Apply AI: Analyze Customer Review</a:t>
            </a:r>
            <a:r>
              <a:rPr lang="en-US" sz="2600"/>
              <a:t> </a:t>
            </a:r>
            <a:endParaRPr sz="2600"/>
          </a:p>
        </p:txBody>
      </p:sp>
      <p:sp>
        <p:nvSpPr>
          <p:cNvPr id="266" name="Google Shape;266;g3f75978207c_0_266"/>
          <p:cNvSpPr txBox="1"/>
          <p:nvPr>
            <p:ph idx="1" type="body"/>
          </p:nvPr>
        </p:nvSpPr>
        <p:spPr>
          <a:xfrm>
            <a:off x="836425" y="1794726"/>
            <a:ext cx="10914300" cy="456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g3f75978207c_0_266" title="Apply_AI-_Analyze_Customer_Reviews_certificate_ayan-mandal-cs28-iilm-edu_48df18ac-bf7a-4025-9a58-55a229d005e9 (1)_pages-to-jpg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700" y="1543400"/>
            <a:ext cx="11193677" cy="531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75978207c_0_257"/>
          <p:cNvSpPr txBox="1"/>
          <p:nvPr>
            <p:ph type="title"/>
          </p:nvPr>
        </p:nvSpPr>
        <p:spPr>
          <a:xfrm>
            <a:off x="838200" y="573625"/>
            <a:ext cx="10914300" cy="1320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Course 3 : Data Analytics Essentials </a:t>
            </a:r>
            <a:endParaRPr b="1" sz="2500"/>
          </a:p>
        </p:txBody>
      </p:sp>
      <p:sp>
        <p:nvSpPr>
          <p:cNvPr id="274" name="Google Shape;274;g3f75978207c_0_257"/>
          <p:cNvSpPr txBox="1"/>
          <p:nvPr>
            <p:ph idx="1" type="body"/>
          </p:nvPr>
        </p:nvSpPr>
        <p:spPr>
          <a:xfrm>
            <a:off x="836425" y="1794726"/>
            <a:ext cx="10914300" cy="456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g3f75978207c_0_257" title="Data_Analytics_Essentials_certificate_ayan-mandal-cs28-iilm-edu_40eea92e-8941-4b83-8a79-a242f44b4546 (1)_page-0001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825" y="1453950"/>
            <a:ext cx="11189673" cy="540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"/>
          <p:cNvSpPr txBox="1"/>
          <p:nvPr>
            <p:ph type="title"/>
          </p:nvPr>
        </p:nvSpPr>
        <p:spPr>
          <a:xfrm>
            <a:off x="651710" y="1704474"/>
            <a:ext cx="10888579" cy="3449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Pinyon Script"/>
              <a:buNone/>
            </a:pPr>
            <a:r>
              <a:rPr lang="en-US" sz="19900"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2025-07-19T19:52:25Z</dcterms:created>
  <dc:creator>Anil Saroliya</dc:creator>
</cp:coreProperties>
</file>